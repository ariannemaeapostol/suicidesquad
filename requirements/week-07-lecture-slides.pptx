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stays on. This week the views learn to talk back — sending user input to the Phase 2 controllers, async, with loading/success/error handled.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Views rendered last week; now they send input to the Phase 2 controllers. The two halves connect.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Form parts: fields+labels, submit, method/action. Client validation is a courtesy, not security — server still validates.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Sync = full reload; async = background, no reload. Async enables inline loading/error. Tie to monolith vs decoupled.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lifecycle as Week 3, from the client. 'await' is the key idea: wait for the response without freezing the page.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await = wait for the response without blocking the page. Show a loading state meanwhile.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Pending/fulfilled/rejected → loading/success/error UI. Disable button while pending to prevent double-submits.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Branch on status. 201 → update; 422 → field errors; else → general error. Standardized shape makes this uniform.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→ POST controller; Update → PUT controller, form pre-filled. The app is end-to-end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framework's expression of the concept. Teams on other stacks map the same idea.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Bind create+update, handle the lifecycle visibly, prevent double-submits. AI on with prompt logs.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Forms now drive your controllers, async, with loading/success/error handled. Next week: polish error handling &amp; feedback — Deliverable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280160"/>
            <a:ext cx="4206240" cy="4206240"/>
          </a:xfrm>
          <a:prstGeom prst="oval">
            <a:avLst/>
          </a:prstGeom>
          <a:solidFill>
            <a:srgbClr val="2D5A8C">
              <a:alpha val="3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2743200"/>
            <a:ext cx="3108960" cy="3108960"/>
          </a:xfrm>
          <a:prstGeom prst="oval">
            <a:avLst/>
          </a:prstGeom>
          <a:solidFill>
            <a:srgbClr val="1F7A6B">
              <a:alpha val="3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25880"/>
            <a:ext cx="822960" cy="822960"/>
          </a:xfrm>
          <a:prstGeom prst="oval">
            <a:avLst/>
          </a:prstGeom>
          <a:solidFill>
            <a:srgbClr val="1F7A6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50" y="1523390"/>
            <a:ext cx="427939" cy="4279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230428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D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· PHASE 3 — INTERFACE BINDING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260604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 Submission &amp; Asynchronous Operations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566928" y="39776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Engineering — AI-Assisted Applied Bootcamp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4526280"/>
            <a:ext cx="2286000" cy="384048"/>
          </a:xfrm>
          <a:prstGeom prst="roundedRectangle">
            <a:avLst>
              <a:gd name="adj" fmla="val 14286"/>
            </a:avLst>
          </a:prstGeom>
          <a:solidFill>
            <a:srgbClr val="1F7A6B"/>
          </a:solidFill>
          <a:ln/>
        </p:spPr>
      </p:sp>
      <p:sp>
        <p:nvSpPr>
          <p:cNvPr id="10" name="Text 7"/>
          <p:cNvSpPr/>
          <p:nvPr/>
        </p:nvSpPr>
        <p:spPr>
          <a:xfrm>
            <a:off x="566928" y="452628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AI ON · REQUIRED TOOL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 of today, you can…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30352" cy="530352"/>
          </a:xfrm>
          <a:prstGeom prst="oval">
            <a:avLst/>
          </a:prstGeom>
          <a:solidFill>
            <a:srgbClr val="2D5A8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5924" y="1608612"/>
            <a:ext cx="275783" cy="27578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46304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3657600" y="1463040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how a form collects and submits input.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2304288"/>
            <a:ext cx="530352" cy="530352"/>
          </a:xfrm>
          <a:prstGeom prst="oval">
            <a:avLst/>
          </a:prstGeom>
          <a:solidFill>
            <a:srgbClr val="C05621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924" y="2431572"/>
            <a:ext cx="275783" cy="27578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228600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Sync vs async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3657600" y="2286000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page-reload from Fetch/Axios submission.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48640" y="3127248"/>
            <a:ext cx="530352" cy="530352"/>
          </a:xfrm>
          <a:prstGeom prst="oval">
            <a:avLst/>
          </a:prstGeom>
          <a:solidFill>
            <a:srgbClr val="2D5A8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24" y="3254532"/>
            <a:ext cx="275783" cy="27578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310896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Round trip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3657600" y="3108960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the client-side request/response cycle.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48640" y="3950208"/>
            <a:ext cx="530352" cy="530352"/>
          </a:xfrm>
          <a:prstGeom prst="oval">
            <a:avLst/>
          </a:prstGeom>
          <a:solidFill>
            <a:srgbClr val="C05621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924" y="4077492"/>
            <a:ext cx="275783" cy="27578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34440" y="393192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Lifecycle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3657600" y="3931920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loading, success, and error in the UI.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Views render — now make them send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965960"/>
            <a:ext cx="1746504" cy="1371600"/>
          </a:xfrm>
          <a:prstGeom prst="roundedRectangle">
            <a:avLst>
              <a:gd name="adj" fmla="val 5333"/>
            </a:avLst>
          </a:prstGeom>
          <a:solidFill>
            <a:srgbClr val="EAF0F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20140" y="2112264"/>
            <a:ext cx="512064" cy="512064"/>
          </a:xfrm>
          <a:prstGeom prst="oval">
            <a:avLst/>
          </a:prstGeom>
          <a:solidFill>
            <a:srgbClr val="1F7A6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3035" y="2235159"/>
            <a:ext cx="266273" cy="26627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660904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02920" y="2926080"/>
            <a:ext cx="174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collects input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2231136" y="1965960"/>
            <a:ext cx="38404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2633472" y="1965960"/>
            <a:ext cx="1746504" cy="1371600"/>
          </a:xfrm>
          <a:prstGeom prst="roundedRectangle">
            <a:avLst>
              <a:gd name="adj" fmla="val 5333"/>
            </a:avLst>
          </a:prstGeom>
          <a:solidFill>
            <a:srgbClr val="EAF0F6"/>
          </a:solidFill>
          <a:ln w="19050">
            <a:solidFill>
              <a:srgbClr val="C05621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50692" y="2112264"/>
            <a:ext cx="512064" cy="512064"/>
          </a:xfrm>
          <a:prstGeom prst="oval">
            <a:avLst/>
          </a:prstGeom>
          <a:solidFill>
            <a:srgbClr val="2D5A8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3587" y="2235159"/>
            <a:ext cx="266273" cy="26627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633472" y="2660904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Request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2633472" y="2926080"/>
            <a:ext cx="174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/ Axios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4361688" y="1965960"/>
            <a:ext cx="38404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4764024" y="1965960"/>
            <a:ext cx="1746504" cy="1371600"/>
          </a:xfrm>
          <a:prstGeom prst="roundedRectangle">
            <a:avLst>
              <a:gd name="adj" fmla="val 5333"/>
            </a:avLst>
          </a:prstGeom>
          <a:solidFill>
            <a:srgbClr val="EAF0F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381244" y="2112264"/>
            <a:ext cx="512064" cy="512064"/>
          </a:xfrm>
          <a:prstGeom prst="oval">
            <a:avLst/>
          </a:prstGeom>
          <a:solidFill>
            <a:srgbClr val="C05621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4139" y="2235159"/>
            <a:ext cx="266273" cy="26627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764024" y="2660904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Controller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4764024" y="2926080"/>
            <a:ext cx="174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6492240" y="1965960"/>
            <a:ext cx="38404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2" name="Shape 17"/>
          <p:cNvSpPr/>
          <p:nvPr/>
        </p:nvSpPr>
        <p:spPr>
          <a:xfrm>
            <a:off x="6894576" y="1965960"/>
            <a:ext cx="1746504" cy="1371600"/>
          </a:xfrm>
          <a:prstGeom prst="roundedRectangle">
            <a:avLst>
              <a:gd name="adj" fmla="val 5333"/>
            </a:avLst>
          </a:prstGeom>
          <a:solidFill>
            <a:srgbClr val="EAF0F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511796" y="2112264"/>
            <a:ext cx="512064" cy="512064"/>
          </a:xfrm>
          <a:prstGeom prst="oval">
            <a:avLst/>
          </a:prstGeom>
          <a:solidFill>
            <a:srgbClr val="1B2A41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4691" y="2235159"/>
            <a:ext cx="266273" cy="266273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894576" y="2660904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Response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6894576" y="2926080"/>
            <a:ext cx="174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the UI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502920" y="35204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moment the two halves connect: the interface finally drives the controllers you built by hand.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 FORM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Collect, then submit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85800" y="1554480"/>
            <a:ext cx="3108960" cy="2468880"/>
          </a:xfrm>
          <a:prstGeom prst="roundedRectangle">
            <a:avLst>
              <a:gd name="adj" fmla="val 1111"/>
            </a:avLst>
          </a:prstGeom>
          <a:solidFill>
            <a:srgbClr val="FFFFFF"/>
          </a:solidFill>
          <a:ln w="15875">
            <a:solidFill>
              <a:srgbClr val="C4CC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554480"/>
            <a:ext cx="3108960" cy="365760"/>
          </a:xfrm>
          <a:prstGeom prst="rectangle">
            <a:avLst/>
          </a:prstGeom>
          <a:solidFill>
            <a:srgbClr val="EAF0F6"/>
          </a:solidFill>
          <a:ln/>
        </p:spPr>
      </p:sp>
      <p:sp>
        <p:nvSpPr>
          <p:cNvPr id="6" name="Shape 4"/>
          <p:cNvSpPr/>
          <p:nvPr/>
        </p:nvSpPr>
        <p:spPr>
          <a:xfrm>
            <a:off x="832104" y="1700784"/>
            <a:ext cx="1399032" cy="41148"/>
          </a:xfrm>
          <a:prstGeom prst="rectangle">
            <a:avLst/>
          </a:prstGeom>
          <a:solidFill>
            <a:srgbClr val="7E8A99"/>
          </a:solidFill>
          <a:ln/>
        </p:spPr>
      </p:sp>
      <p:sp>
        <p:nvSpPr>
          <p:cNvPr id="7" name="Shape 5"/>
          <p:cNvSpPr/>
          <p:nvPr/>
        </p:nvSpPr>
        <p:spPr>
          <a:xfrm>
            <a:off x="850392" y="2084832"/>
            <a:ext cx="932688" cy="41148"/>
          </a:xfrm>
          <a:prstGeom prst="rectangle">
            <a:avLst/>
          </a:prstGeom>
          <a:solidFill>
            <a:srgbClr val="8B96A3"/>
          </a:solidFill>
          <a:ln/>
        </p:spPr>
      </p:sp>
      <p:sp>
        <p:nvSpPr>
          <p:cNvPr id="8" name="Shape 6"/>
          <p:cNvSpPr/>
          <p:nvPr/>
        </p:nvSpPr>
        <p:spPr>
          <a:xfrm>
            <a:off x="850392" y="2185416"/>
            <a:ext cx="2779776" cy="274320"/>
          </a:xfrm>
          <a:prstGeom prst="roundedRectangle">
            <a:avLst>
              <a:gd name="adj" fmla="val 10000"/>
            </a:avLst>
          </a:prstGeom>
          <a:ln w="12700">
            <a:solidFill>
              <a:srgbClr val="9AA6B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" y="2596896"/>
            <a:ext cx="932688" cy="41148"/>
          </a:xfrm>
          <a:prstGeom prst="rectangle">
            <a:avLst/>
          </a:prstGeom>
          <a:solidFill>
            <a:srgbClr val="8B96A3"/>
          </a:solidFill>
          <a:ln/>
        </p:spPr>
      </p:sp>
      <p:sp>
        <p:nvSpPr>
          <p:cNvPr id="10" name="Shape 8"/>
          <p:cNvSpPr/>
          <p:nvPr/>
        </p:nvSpPr>
        <p:spPr>
          <a:xfrm>
            <a:off x="850392" y="2697480"/>
            <a:ext cx="2779776" cy="274320"/>
          </a:xfrm>
          <a:prstGeom prst="roundedRectangle">
            <a:avLst>
              <a:gd name="adj" fmla="val 10000"/>
            </a:avLst>
          </a:prstGeom>
          <a:ln w="12700">
            <a:solidFill>
              <a:srgbClr val="9AA6B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26080" y="3145536"/>
            <a:ext cx="685800" cy="292608"/>
          </a:xfrm>
          <a:prstGeom prst="roundedRectangle">
            <a:avLst>
              <a:gd name="adj" fmla="val 9375"/>
            </a:avLst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0" y="3127248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85800" y="4069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“Create order” form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97680" y="1600200"/>
            <a:ext cx="457200" cy="457200"/>
          </a:xfrm>
          <a:prstGeom prst="oval">
            <a:avLst/>
          </a:prstGeom>
          <a:solidFill>
            <a:srgbClr val="2D5A8C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07408" y="1709928"/>
            <a:ext cx="237744" cy="237744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4892040" y="156362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Fields &amp; labels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892040" y="183794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inputs, each clearly labeled.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4297680" y="2350008"/>
            <a:ext cx="457200" cy="457200"/>
          </a:xfrm>
          <a:prstGeom prst="oval">
            <a:avLst/>
          </a:prstGeom>
          <a:solidFill>
            <a:srgbClr val="C05621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7408" y="2459736"/>
            <a:ext cx="237744" cy="23774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892040" y="231343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Submit control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4892040" y="258775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button that sends it.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4297680" y="3099816"/>
            <a:ext cx="457200" cy="457200"/>
          </a:xfrm>
          <a:prstGeom prst="oval">
            <a:avLst/>
          </a:prstGeom>
          <a:solidFill>
            <a:srgbClr val="2D5A8C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7408" y="3209544"/>
            <a:ext cx="237744" cy="23774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892040" y="30632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 &amp; action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4892040" y="3337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and how the data goes.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4297680" y="3886200"/>
            <a:ext cx="4343400" cy="548640"/>
          </a:xfrm>
          <a:prstGeom prst="roundedRectangle">
            <a:avLst>
              <a:gd name="adj" fmla="val 10000"/>
            </a:avLst>
          </a:prstGeom>
          <a:solidFill>
            <a:srgbClr val="F6E9DF"/>
          </a:solidFill>
          <a:ln/>
        </p:spPr>
      </p:sp>
      <p:sp>
        <p:nvSpPr>
          <p:cNvPr id="27" name="Text 22"/>
          <p:cNvSpPr/>
          <p:nvPr/>
        </p:nvSpPr>
        <p:spPr>
          <a:xfrm>
            <a:off x="4526280" y="388620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3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validation is UX — the server is still the real gate (Week 4).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SYNCHRONOUS VS. ASYNCHRONOUS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form sends data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3977640" cy="1965960"/>
          </a:xfrm>
          <a:prstGeom prst="roundedRectangle">
            <a:avLst>
              <a:gd name="adj" fmla="val 3721"/>
            </a:avLst>
          </a:prstGeom>
          <a:solidFill>
            <a:srgbClr val="F6E9D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828800"/>
            <a:ext cx="548640" cy="548640"/>
          </a:xfrm>
          <a:prstGeom prst="oval">
            <a:avLst/>
          </a:prstGeom>
          <a:solidFill>
            <a:srgbClr val="C0562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3194" y="196047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99032" y="1819656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Synchronous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58952" y="2441448"/>
            <a:ext cx="34655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POST — the whole page reloads with the response. Simple, but the page flashes and state is lost.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663440" y="1600200"/>
            <a:ext cx="3977640" cy="1965960"/>
          </a:xfrm>
          <a:prstGeom prst="roundedRectangle">
            <a:avLst>
              <a:gd name="adj" fmla="val 3721"/>
            </a:avLst>
          </a:prstGeom>
          <a:solidFill>
            <a:srgbClr val="E1F0ED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92040" y="1828800"/>
            <a:ext cx="548640" cy="548640"/>
          </a:xfrm>
          <a:prstGeom prst="oval">
            <a:avLst/>
          </a:prstGeom>
          <a:solidFill>
            <a:srgbClr val="1F7A6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3714" y="196047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59552" y="1819656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Asynchronous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919472" y="2441448"/>
            <a:ext cx="34655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/ Axios send in the background — no reload. Update just the part of the UI that changed.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02920" y="3749040"/>
            <a:ext cx="8138160" cy="777240"/>
          </a:xfrm>
          <a:prstGeom prst="roundedRectangle">
            <a:avLst>
              <a:gd name="adj" fmla="val 7059"/>
            </a:avLst>
          </a:prstGeom>
          <a:solidFill>
            <a:srgbClr val="F6E9DF"/>
          </a:solidFill>
          <a:ln/>
        </p:spPr>
      </p:sp>
      <p:sp>
        <p:nvSpPr>
          <p:cNvPr id="15" name="Text 11"/>
          <p:cNvSpPr/>
          <p:nvPr/>
        </p:nvSpPr>
        <p:spPr>
          <a:xfrm>
            <a:off x="731520" y="374904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3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keeps the user in place and lets you show loading and error states inline. Most modern apps submit asynchronously — decoupled apps almost always do.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CLIENT-SIDE ROUND TRIP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3's lifecycle — from the client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1746504" cy="1280160"/>
          </a:xfrm>
          <a:prstGeom prst="roundedRectangle">
            <a:avLst>
              <a:gd name="adj" fmla="val 5714"/>
            </a:avLst>
          </a:prstGeom>
          <a:solidFill>
            <a:srgbClr val="EAF0F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20140" y="1792224"/>
            <a:ext cx="512064" cy="512064"/>
          </a:xfrm>
          <a:prstGeom prst="oval">
            <a:avLst/>
          </a:prstGeom>
          <a:solidFill>
            <a:srgbClr val="1F7A6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3035" y="1915119"/>
            <a:ext cx="266273" cy="26627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40864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02920" y="2606040"/>
            <a:ext cx="174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fields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2231136" y="1645920"/>
            <a:ext cx="38404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2633472" y="1645920"/>
            <a:ext cx="1746504" cy="1280160"/>
          </a:xfrm>
          <a:prstGeom prst="roundedRectangle">
            <a:avLst>
              <a:gd name="adj" fmla="val 5714"/>
            </a:avLst>
          </a:prstGeom>
          <a:solidFill>
            <a:srgbClr val="EAF0F6"/>
          </a:solidFill>
          <a:ln w="19050">
            <a:solidFill>
              <a:srgbClr val="C05621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50692" y="1792224"/>
            <a:ext cx="512064" cy="512064"/>
          </a:xfrm>
          <a:prstGeom prst="oval">
            <a:avLst/>
          </a:prstGeom>
          <a:solidFill>
            <a:srgbClr val="2D5A8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3587" y="1915119"/>
            <a:ext cx="266273" cy="26627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633472" y="2340864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Send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2633472" y="2606040"/>
            <a:ext cx="174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 request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4361688" y="1645920"/>
            <a:ext cx="38404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4764024" y="1645920"/>
            <a:ext cx="1746504" cy="1280160"/>
          </a:xfrm>
          <a:prstGeom prst="roundedRectangle">
            <a:avLst>
              <a:gd name="adj" fmla="val 5714"/>
            </a:avLst>
          </a:prstGeom>
          <a:solidFill>
            <a:srgbClr val="EAF0F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381244" y="1792224"/>
            <a:ext cx="512064" cy="512064"/>
          </a:xfrm>
          <a:prstGeom prst="oval">
            <a:avLst/>
          </a:prstGeom>
          <a:solidFill>
            <a:srgbClr val="C05621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4139" y="1915119"/>
            <a:ext cx="266273" cy="26627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764024" y="2340864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Controller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4764024" y="2606040"/>
            <a:ext cx="174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6492240" y="1645920"/>
            <a:ext cx="38404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2" name="Shape 17"/>
          <p:cNvSpPr/>
          <p:nvPr/>
        </p:nvSpPr>
        <p:spPr>
          <a:xfrm>
            <a:off x="6894576" y="1645920"/>
            <a:ext cx="1746504" cy="1280160"/>
          </a:xfrm>
          <a:prstGeom prst="roundedRectangle">
            <a:avLst>
              <a:gd name="adj" fmla="val 5714"/>
            </a:avLst>
          </a:prstGeom>
          <a:solidFill>
            <a:srgbClr val="EAF0F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511796" y="1792224"/>
            <a:ext cx="512064" cy="512064"/>
          </a:xfrm>
          <a:prstGeom prst="oval">
            <a:avLst/>
          </a:prstGeom>
          <a:solidFill>
            <a:srgbClr val="1B2A41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4691" y="1915119"/>
            <a:ext cx="266273" cy="266273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894576" y="2340864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Handle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6894576" y="2606040"/>
            <a:ext cx="174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UI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502920" y="3200400"/>
            <a:ext cx="8138160" cy="1371600"/>
          </a:xfrm>
          <a:prstGeom prst="roundedRectangle">
            <a:avLst>
              <a:gd name="adj" fmla="val 3333"/>
            </a:avLst>
          </a:prstGeom>
          <a:solidFill>
            <a:srgbClr val="EEF2F7"/>
          </a:solidFill>
          <a:ln w="9525">
            <a:solidFill>
              <a:srgbClr val="C4CCD6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667512" y="3310128"/>
            <a:ext cx="780897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submit: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 = collect form fields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response = await send(POST, "/orders", data)   # Fetch or Axios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response.ok:  update the UI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            show the errors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2834640"/>
            <a:ext cx="3474720" cy="3474720"/>
          </a:xfrm>
          <a:prstGeom prst="oval">
            <a:avLst/>
          </a:prstGeom>
          <a:solidFill>
            <a:srgbClr val="1F7A6B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F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NEW IDEA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request takes time. `await` lets your code wait for the response without freezing the page — everything after it runs when the server answers.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200400"/>
            <a:ext cx="548640" cy="548640"/>
          </a:xfrm>
          <a:prstGeom prst="oval">
            <a:avLst/>
          </a:prstGeom>
          <a:solidFill>
            <a:srgbClr val="1F7A6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314" y="3332074"/>
            <a:ext cx="285293" cy="2852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320040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Meanwhile, show a loading state — the user sees progress, not a frozen screen.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ASYNC LIFECYCLE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states — each a UI you wireframed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2606040" cy="1965960"/>
          </a:xfrm>
          <a:prstGeom prst="roundedRectangle">
            <a:avLst>
              <a:gd name="adj" fmla="val 3721"/>
            </a:avLst>
          </a:prstGeom>
          <a:solidFill>
            <a:srgbClr val="EAF0F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31620" y="1783080"/>
            <a:ext cx="548640" cy="548640"/>
          </a:xfrm>
          <a:prstGeom prst="oval">
            <a:avLst/>
          </a:prstGeom>
          <a:solidFill>
            <a:srgbClr val="2D5A8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3294" y="191475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Pending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30936" y="2660904"/>
            <a:ext cx="2350008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sent, waiting. Disable the button, show a spinner.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46120" y="1600200"/>
            <a:ext cx="2606040" cy="1965960"/>
          </a:xfrm>
          <a:prstGeom prst="roundedRectangle">
            <a:avLst>
              <a:gd name="adj" fmla="val 3721"/>
            </a:avLst>
          </a:prstGeom>
          <a:solidFill>
            <a:srgbClr val="E1F0ED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274820" y="1783080"/>
            <a:ext cx="548640" cy="548640"/>
          </a:xfrm>
          <a:prstGeom prst="oval">
            <a:avLst/>
          </a:prstGeom>
          <a:solidFill>
            <a:srgbClr val="1F7A6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6494" y="191475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46120" y="237744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Fulfilled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374136" y="2660904"/>
            <a:ext cx="2350008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OK (201). Update the UI, clear the form.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989320" y="1600200"/>
            <a:ext cx="2606040" cy="1965960"/>
          </a:xfrm>
          <a:prstGeom prst="roundedRectangle">
            <a:avLst>
              <a:gd name="adj" fmla="val 3721"/>
            </a:avLst>
          </a:prstGeom>
          <a:solidFill>
            <a:srgbClr val="F6E9D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018020" y="1783080"/>
            <a:ext cx="548640" cy="548640"/>
          </a:xfrm>
          <a:prstGeom prst="oval">
            <a:avLst/>
          </a:prstGeom>
          <a:solidFill>
            <a:srgbClr val="C0562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9694" y="191475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989320" y="237744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Rejected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117336" y="2660904"/>
            <a:ext cx="2350008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OK (422 / 500). Show the error; for 422, the field messages.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02920" y="3749040"/>
            <a:ext cx="8138160" cy="777240"/>
          </a:xfrm>
          <a:prstGeom prst="roundedRectangle">
            <a:avLst>
              <a:gd name="adj" fmla="val 7059"/>
            </a:avLst>
          </a:prstGeom>
          <a:solidFill>
            <a:srgbClr val="F6E9DF"/>
          </a:solidFill>
          <a:ln/>
        </p:spPr>
      </p:sp>
      <p:sp>
        <p:nvSpPr>
          <p:cNvPr id="20" name="Text 15"/>
          <p:cNvSpPr/>
          <p:nvPr/>
        </p:nvSpPr>
        <p:spPr>
          <a:xfrm>
            <a:off x="731520" y="374904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3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 the submit button while pending — it prevents double-submits (creating the same record twice). Each state maps to a wireframe from Week 2.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THE RESPONSE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Branch on the standardized status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8138160" cy="1874520"/>
          </a:xfrm>
          <a:prstGeom prst="roundedRectangle">
            <a:avLst>
              <a:gd name="adj" fmla="val 2439"/>
            </a:avLst>
          </a:prstGeom>
          <a:solidFill>
            <a:srgbClr val="EEF2F7"/>
          </a:solidFill>
          <a:ln w="9525">
            <a:solidFill>
              <a:srgbClr val="C4CC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572768"/>
            <a:ext cx="7808976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button.disable(); showSpinner()                      # pending</a:t>
            </a: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 = await send(...)</a:t>
            </a: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  response.status == 201:  addToList(response.data); resetForm()   # success</a:t>
            </a: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 response.status == 422:  showFieldErrors(response.error)         # validation</a:t>
            </a: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                         showGeneralError()                     # 500 / network</a:t>
            </a: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button.enable(); hideSpinner()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3566160"/>
            <a:ext cx="8138160" cy="914400"/>
          </a:xfrm>
          <a:prstGeom prst="roundedRectangle">
            <a:avLst>
              <a:gd name="adj" fmla="val 6000"/>
            </a:avLst>
          </a:prstGeom>
          <a:solidFill>
            <a:srgbClr val="F6E9D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56616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3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Week 4's standardized error shape matters: the client can display a 422 uniformly because every controller answers the same way.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BINDING TO YOUR CONTROLLERS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two halves connect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417320" y="1691640"/>
            <a:ext cx="2551176" cy="1188720"/>
          </a:xfrm>
          <a:prstGeom prst="roundedRectangle">
            <a:avLst>
              <a:gd name="adj" fmla="val 6154"/>
            </a:avLst>
          </a:prstGeom>
          <a:solidFill>
            <a:srgbClr val="EAF0F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436876" y="1837944"/>
            <a:ext cx="512064" cy="512064"/>
          </a:xfrm>
          <a:prstGeom prst="oval">
            <a:avLst/>
          </a:prstGeom>
          <a:solidFill>
            <a:srgbClr val="1F7A6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59771" y="1960839"/>
            <a:ext cx="266273" cy="26627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386584"/>
            <a:ext cx="2551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form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417320" y="2651760"/>
            <a:ext cx="2551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POST /orders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3950208" y="1691640"/>
            <a:ext cx="38404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4352544" y="1691640"/>
            <a:ext cx="2551176" cy="1188720"/>
          </a:xfrm>
          <a:prstGeom prst="roundedRectangle">
            <a:avLst>
              <a:gd name="adj" fmla="val 6154"/>
            </a:avLst>
          </a:prstGeom>
          <a:solidFill>
            <a:srgbClr val="EAF0F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372100" y="1837944"/>
            <a:ext cx="512064" cy="512064"/>
          </a:xfrm>
          <a:prstGeom prst="oval">
            <a:avLst/>
          </a:prstGeom>
          <a:solidFill>
            <a:srgbClr val="2D5A8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4995" y="1960839"/>
            <a:ext cx="266273" cy="26627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352544" y="2386584"/>
            <a:ext cx="2551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Update form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352544" y="2651760"/>
            <a:ext cx="2551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PUT /orders/:id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502920" y="3200400"/>
            <a:ext cx="8138160" cy="1280160"/>
          </a:xfrm>
          <a:prstGeom prst="roundedRectangle">
            <a:avLst>
              <a:gd name="adj" fmla="val 4286"/>
            </a:avLst>
          </a:prstGeom>
          <a:solidFill>
            <a:srgbClr val="F6E9DF"/>
          </a:solidFill>
          <a:ln/>
        </p:spPr>
      </p:sp>
      <p:sp>
        <p:nvSpPr>
          <p:cNvPr id="16" name="Text 12"/>
          <p:cNvSpPr/>
          <p:nvPr/>
        </p:nvSpPr>
        <p:spPr>
          <a:xfrm>
            <a:off x="731520" y="320040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3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 sends data to the exact endpoints you built in Phase 2; your controller validates and processes it and returns the standardized response, which the form handles per the lifecycle. The app is now end-to-end: click in the UI → data reaches the database → the UI updates.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LARAVEL — ONE CONCRETE EXAMPLE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Blade form + async Fetch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8138160" cy="2926080"/>
          </a:xfrm>
          <a:prstGeom prst="roundedRectangle">
            <a:avLst>
              <a:gd name="adj" fmla="val 1563"/>
            </a:avLst>
          </a:prstGeom>
          <a:solidFill>
            <a:srgbClr val="EEF2F7"/>
          </a:solidFill>
          <a:ln w="9525">
            <a:solidFill>
              <a:srgbClr val="C4CC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527048"/>
            <a:ext cx="7808976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&lt;form id="order-form"&gt;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&lt;input name="item"&gt; &lt;input name="qty" type="number"&gt;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&lt;button type="submit"&gt;Save&lt;/button&gt;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&lt;/form&gt;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&lt;script&gt;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document.querySelector('#order-form').addEventListener('submit', async (e) =&gt; {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e.preventDefault();                        // stop the full-page reload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res = await fetch('/orders', {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method: 'POST',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headers: { 'Content-Type': 'application/json' },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body: JSON.stringify({ item: item.value, qty: qty.value }),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(res.status === 201) { /* update UI */ }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else if (res.status === 422) { /* show field errors */ }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&lt;/script&gt;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4507992"/>
            <a:ext cx="8138160" cy="685800"/>
          </a:xfrm>
          <a:prstGeom prst="roundedRectangle">
            <a:avLst>
              <a:gd name="adj" fmla="val 8000"/>
            </a:avLst>
          </a:prstGeom>
          <a:solidFill>
            <a:srgbClr val="F6E9D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507992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3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422 branch consumes the exact error shape your Form Request returns. Collect, send async, handle the response — the concept transfers to Axios, React, Vue, Angular.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LAB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Bind forms to the backend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2606040" cy="1737360"/>
          </a:xfrm>
          <a:prstGeom prst="roundedRectangle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83080"/>
            <a:ext cx="548640" cy="548640"/>
          </a:xfrm>
          <a:prstGeom prst="oval">
            <a:avLst/>
          </a:prstGeom>
          <a:solidFill>
            <a:srgbClr val="1F7A6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3194" y="191475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99032" y="1773936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form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58952" y="2395728"/>
            <a:ext cx="20939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 to POST; records persist.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91840" y="1554480"/>
            <a:ext cx="2606040" cy="1737360"/>
          </a:xfrm>
          <a:prstGeom prst="roundedRectangle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20440" y="1783080"/>
            <a:ext cx="548640" cy="548640"/>
          </a:xfrm>
          <a:prstGeom prst="oval">
            <a:avLst/>
          </a:prstGeom>
          <a:solidFill>
            <a:srgbClr val="2D5A8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2114" y="191475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187952" y="1773936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Update form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547872" y="2395728"/>
            <a:ext cx="20939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Pre-fill; bind to PUT.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080760" y="1554480"/>
            <a:ext cx="2606040" cy="1737360"/>
          </a:xfrm>
          <a:prstGeom prst="roundedRectangle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09360" y="1783080"/>
            <a:ext cx="548640" cy="548640"/>
          </a:xfrm>
          <a:prstGeom prst="oval">
            <a:avLst/>
          </a:prstGeom>
          <a:solidFill>
            <a:srgbClr val="C0562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1034" y="191475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76872" y="1773936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Lifecycle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336792" y="2395728"/>
            <a:ext cx="20939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Loading, success, error — all visible.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02920" y="3566160"/>
            <a:ext cx="8138160" cy="960120"/>
          </a:xfrm>
          <a:prstGeom prst="roundedRectangle">
            <a:avLst>
              <a:gd name="adj" fmla="val 5714"/>
            </a:avLst>
          </a:prstGeom>
          <a:solidFill>
            <a:srgbClr val="F6E9DF"/>
          </a:solidFill>
          <a:ln/>
        </p:spPr>
      </p:sp>
      <p:sp>
        <p:nvSpPr>
          <p:cNvPr id="20" name="Text 15"/>
          <p:cNvSpPr/>
          <p:nvPr/>
        </p:nvSpPr>
        <p:spPr>
          <a:xfrm>
            <a:off x="731520" y="3566160"/>
            <a:ext cx="7680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3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 the button while pending (no double-submits). If a failed submit looks like nothing happened, your error handling is missing. AI on — scaffold, review, log prompts.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2926080"/>
            <a:ext cx="4023360" cy="4023360"/>
          </a:xfrm>
          <a:prstGeom prst="oval">
            <a:avLst/>
          </a:prstGeom>
          <a:solidFill>
            <a:srgbClr val="2D5A8C">
              <a:alpha val="3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731520" cy="731520"/>
          </a:xfrm>
          <a:prstGeom prst="oval">
            <a:avLst/>
          </a:prstGeom>
          <a:solidFill>
            <a:srgbClr val="1F7A6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4205" y="678485"/>
            <a:ext cx="380390" cy="38039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371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640080" y="2194560"/>
            <a:ext cx="78638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 collects input; client-side validation is UX — the server is still the real gate.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submission (Fetch/Axios) sends in the background — no page reload, update UI in place.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client-side round trip mirrors Week 3: collect, send, await, handle the response.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the async lifecycle: loading, success, and error (show 422 field messages).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 Submission &amp; Asynchronous Operations</dc:title>
  <dc:subject>PptxGenJS Presentation</dc:subject>
  <dc:creator>Course Instructor</dc:creator>
  <cp:lastModifiedBy>Course Instructor</cp:lastModifiedBy>
  <cp:revision>1</cp:revision>
  <dcterms:created xsi:type="dcterms:W3CDTF">2026-08-19T23:40:05Z</dcterms:created>
  <dcterms:modified xsi:type="dcterms:W3CDTF">2026-08-19T23:40:05Z</dcterms:modified>
</cp:coreProperties>
</file>