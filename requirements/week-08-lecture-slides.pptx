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Closes Phase 3. Handle everything that can go wrong; make the app behave consistently. Deliverable 3 is due. AI on, prompt logs mandatory.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categories: 422 bad data, 404 missing, 500 server, network. Each needs a different response. Unhandled = invisible.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 the async lifecycle to EVERY action, not just create. Consistency is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422 → inline field errors; 404 → not-found state; 500 → general msg; network → retry. UI never freezes.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what went wrong and how to fix it. Name the field. Don't blame, don't leak internals. Ties to the standardized 422 shape.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Match the pattern to the situation: field errors inline, global outcomes as a toast, missing data as an empty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Consistency separates a demo from a product. Uniform responses (Week 4/5) make uniform feedback easy.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scaffolds feedback fast but skips failure branches — review them. Prompt logs mandatory. Previews Week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framework's expression of the concept. Teams on other stacks map the same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Loading everywhere, all failure branches visible, consistent + helpful. Assemble Deliverable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 3 due — a fully interactive app where CRUD works seamlessly. Next: Phase 4, AI becomes the subject (reviewing its code).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280160"/>
            <a:ext cx="4206240" cy="4206240"/>
          </a:xfrm>
          <a:prstGeom prst="oval">
            <a:avLst/>
          </a:prstGeom>
          <a:solidFill>
            <a:srgbClr val="2D5A8C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2743200"/>
            <a:ext cx="3108960" cy="3108960"/>
          </a:xfrm>
          <a:prstGeom prst="oval">
            <a:avLst/>
          </a:prstGeom>
          <a:solidFill>
            <a:srgbClr val="1F7A6B">
              <a:alpha val="3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822960" cy="822960"/>
          </a:xfrm>
          <a:prstGeom prst="oval">
            <a:avLst/>
          </a:prstGeom>
          <a:solidFill>
            <a:srgbClr val="1F7A6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152339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23042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D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· PHASE 3 — INTERFACE BINDING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6060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Handling &amp; User Feedback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66928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— AI-Assisted Applied Bootcamp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4526280"/>
            <a:ext cx="2286000" cy="384048"/>
          </a:xfrm>
          <a:prstGeom prst="roundedRectangle">
            <a:avLst>
              <a:gd name="adj" fmla="val 14286"/>
            </a:avLst>
          </a:prstGeom>
          <a:solidFill>
            <a:srgbClr val="1F7A6B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45262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AI ON · REQUIRED TOOL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today, you can…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" cy="548640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168615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5361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is normal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794760" y="153619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422, 404, 500, and network errors.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548640" cy="548640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250911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3591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states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794760" y="235915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loading, success, and error on every action.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200400"/>
            <a:ext cx="548640" cy="548640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333207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1821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Helpful messages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794760" y="318211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specific, human errors in the app's voice.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4023360"/>
            <a:ext cx="548640" cy="548640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4" y="415503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40050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3794760" y="400507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every screen behave the same way.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IS NORMAL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request can fail — each kind differently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965960" cy="1783080"/>
          </a:xfrm>
          <a:prstGeom prst="roundedRectangle">
            <a:avLst>
              <a:gd name="adj" fmla="val 4103"/>
            </a:avLst>
          </a:prstGeom>
          <a:solidFill>
            <a:srgbClr val="F6E9D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11580" y="1783080"/>
            <a:ext cx="548640" cy="548640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254" y="19147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422 Validation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30936" y="2660904"/>
            <a:ext cx="17099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sent bad data.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33472" y="1600200"/>
            <a:ext cx="1965960" cy="1783080"/>
          </a:xfrm>
          <a:prstGeom prst="roundedRectangle">
            <a:avLst>
              <a:gd name="adj" fmla="val 4103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42132" y="1783080"/>
            <a:ext cx="548640" cy="548640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806" y="19147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33472" y="23774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404 Not found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761488" y="2660904"/>
            <a:ext cx="17099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doesn't exist.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64024" y="1600200"/>
            <a:ext cx="1965960" cy="1783080"/>
          </a:xfrm>
          <a:prstGeom prst="roundedRectangle">
            <a:avLst>
              <a:gd name="adj" fmla="val 4103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72684" y="1783080"/>
            <a:ext cx="548640" cy="548640"/>
          </a:xfrm>
          <a:prstGeom prst="oval">
            <a:avLst/>
          </a:prstGeom>
          <a:solidFill>
            <a:srgbClr val="1B2A4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358" y="19147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64024" y="23774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 Server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892040" y="2660904"/>
            <a:ext cx="17099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threw.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894576" y="1600200"/>
            <a:ext cx="1965960" cy="1783080"/>
          </a:xfrm>
          <a:prstGeom prst="roundedRectangle">
            <a:avLst>
              <a:gd name="adj" fmla="val 4103"/>
            </a:avLst>
          </a:prstGeom>
          <a:solidFill>
            <a:srgbClr val="E1F0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03236" y="1783080"/>
            <a:ext cx="548640" cy="548640"/>
          </a:xfrm>
          <a:prstGeom prst="oval">
            <a:avLst/>
          </a:prstGeom>
          <a:solidFill>
            <a:srgbClr val="1F7A6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4910" y="191475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94576" y="23774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022592" y="2660904"/>
            <a:ext cx="17099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never completed.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02920" y="3703320"/>
            <a:ext cx="8138160" cy="822960"/>
          </a:xfrm>
          <a:prstGeom prst="roundedRectangle">
            <a:avLst>
              <a:gd name="adj" fmla="val 6667"/>
            </a:avLst>
          </a:prstGeom>
          <a:solidFill>
            <a:srgbClr val="F6E9DF"/>
          </a:solidFill>
          <a:ln/>
        </p:spPr>
      </p:sp>
      <p:sp>
        <p:nvSpPr>
          <p:cNvPr id="25" name="Text 19"/>
          <p:cNvSpPr/>
          <p:nvPr/>
        </p:nvSpPr>
        <p:spPr>
          <a:xfrm>
            <a:off x="731520" y="37033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must handle the whole set of responses its controllers can return — not just 201/200. An unhandled branch is a failure the user never sees.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STATES, EVERYWHERE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7's lifecycle — on every action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06040" cy="1965960"/>
          </a:xfrm>
          <a:prstGeom prst="roundedRectangle">
            <a:avLst>
              <a:gd name="adj" fmla="val 3721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1783080"/>
            <a:ext cx="548640" cy="548640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3294" y="19147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30936" y="2660904"/>
            <a:ext cx="235000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spinner; disable the control.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1600200"/>
            <a:ext cx="2606040" cy="1965960"/>
          </a:xfrm>
          <a:prstGeom prst="roundedRectangle">
            <a:avLst>
              <a:gd name="adj" fmla="val 3721"/>
            </a:avLst>
          </a:prstGeom>
          <a:solidFill>
            <a:srgbClr val="E1F0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74820" y="1783080"/>
            <a:ext cx="548640" cy="548640"/>
          </a:xfrm>
          <a:prstGeom prst="oval">
            <a:avLst/>
          </a:prstGeom>
          <a:solidFill>
            <a:srgbClr val="1F7A6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494" y="19147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46120" y="23774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374136" y="2660904"/>
            <a:ext cx="235000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it; update the UI.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989320" y="1600200"/>
            <a:ext cx="2606040" cy="1965960"/>
          </a:xfrm>
          <a:prstGeom prst="roundedRectangle">
            <a:avLst>
              <a:gd name="adj" fmla="val 3721"/>
            </a:avLst>
          </a:prstGeom>
          <a:solidFill>
            <a:srgbClr val="F6E9D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18020" y="1783080"/>
            <a:ext cx="548640" cy="548640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694" y="19147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89320" y="23774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117336" y="2660904"/>
            <a:ext cx="235000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 went wrong and what to do.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2920" y="3749040"/>
            <a:ext cx="8138160" cy="777240"/>
          </a:xfrm>
          <a:prstGeom prst="roundedRectangle">
            <a:avLst>
              <a:gd name="adj" fmla="val 7059"/>
            </a:avLst>
          </a:prstGeom>
          <a:solidFill>
            <a:srgbClr val="F6E9DF"/>
          </a:solidFill>
          <a:ln/>
        </p:spPr>
      </p:sp>
      <p:sp>
        <p:nvSpPr>
          <p:cNvPr id="20" name="Text 15"/>
          <p:cNvSpPr/>
          <p:nvPr/>
        </p:nvSpPr>
        <p:spPr>
          <a:xfrm>
            <a:off x="731520" y="37490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tell of an amateur app: some actions give feedback and others silently do nothing. A delete, an edit, a page load — each one loads, then succeeds or fails.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HANDLE EACH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the response to the failure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8138160" cy="676656"/>
          </a:xfrm>
          <a:prstGeom prst="roundedRectangle">
            <a:avLst>
              <a:gd name="adj" fmla="val 810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618488"/>
            <a:ext cx="548640" cy="548640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98" y="175016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54480"/>
            <a:ext cx="1051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422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468880" y="1554480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data from the user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257800" y="1554480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field errors, by the field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2350008"/>
            <a:ext cx="8138160" cy="676656"/>
          </a:xfrm>
          <a:prstGeom prst="roundedRectangle">
            <a:avLst>
              <a:gd name="adj" fmla="val 8108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" y="2414016"/>
            <a:ext cx="548640" cy="548640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8" y="2545690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2350008"/>
            <a:ext cx="1051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468880" y="2350008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such record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257800" y="2350008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“not found” state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02920" y="3145536"/>
            <a:ext cx="8138160" cy="676656"/>
          </a:xfrm>
          <a:prstGeom prst="roundedRectangle">
            <a:avLst>
              <a:gd name="adj" fmla="val 810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9224" y="3209544"/>
            <a:ext cx="548640" cy="548640"/>
          </a:xfrm>
          <a:prstGeom prst="oval">
            <a:avLst/>
          </a:prstGeom>
          <a:solidFill>
            <a:srgbClr val="1B2A4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8" y="3341218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145536"/>
            <a:ext cx="1051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2468880" y="3145536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broke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257800" y="3145536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message — never the stack trace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02920" y="3941064"/>
            <a:ext cx="8138160" cy="676656"/>
          </a:xfrm>
          <a:prstGeom prst="roundedRectangle">
            <a:avLst>
              <a:gd name="adj" fmla="val 8108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9224" y="4005072"/>
            <a:ext cx="548640" cy="548640"/>
          </a:xfrm>
          <a:prstGeom prst="oval">
            <a:avLst/>
          </a:prstGeom>
          <a:solidFill>
            <a:srgbClr val="1F7A6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8" y="4136746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3941064"/>
            <a:ext cx="1051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2468880" y="3941064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completed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5257800" y="3941064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retry option; the UI must not freeze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HELPFUL MESSAGES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 · actionable · in the app's voice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977640" cy="2743200"/>
          </a:xfrm>
          <a:prstGeom prst="roundedRectangle">
            <a:avLst>
              <a:gd name="adj" fmla="val 2667"/>
            </a:avLst>
          </a:prstGeom>
          <a:solidFill>
            <a:srgbClr val="F6E9D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663440" y="1554480"/>
            <a:ext cx="3977640" cy="2743200"/>
          </a:xfrm>
          <a:prstGeom prst="roundedRectangle">
            <a:avLst>
              <a:gd name="adj" fmla="val 2667"/>
            </a:avLst>
          </a:prstGeom>
          <a:solidFill>
            <a:srgbClr val="E1F0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83080"/>
            <a:ext cx="502920" cy="502920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09" y="1903781"/>
            <a:ext cx="261518" cy="26151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910328" y="1783080"/>
            <a:ext cx="502920" cy="502920"/>
          </a:xfrm>
          <a:prstGeom prst="oval">
            <a:avLst/>
          </a:prstGeom>
          <a:solidFill>
            <a:srgbClr val="1F7A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029" y="190378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1801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532120" y="1801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49808" y="2377440"/>
            <a:ext cx="3520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“Error 422”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“Something went wrong”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 stack trace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“Invalid input”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910328" y="2377440"/>
            <a:ext cx="3520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“Quantity must be at least 1.”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“Choose a status: pending, paid, or shipped.”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couldn't save your order. Try again.”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“Item name can't exceed 100 characters.”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PATTERNS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 toolbox, reused everywhere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2606040" cy="1234440"/>
          </a:xfrm>
          <a:prstGeom prst="roundedRectangle">
            <a:avLst>
              <a:gd name="adj" fmla="val 5185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09928"/>
            <a:ext cx="475488" cy="475488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917" y="1824045"/>
            <a:ext cx="247254" cy="247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550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Inline field error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04088" y="2075688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field — best for 422 validation.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91840" y="1508760"/>
            <a:ext cx="2606040" cy="1234440"/>
          </a:xfrm>
          <a:prstGeom prst="roundedRectangle">
            <a:avLst>
              <a:gd name="adj" fmla="val 5185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709928"/>
            <a:ext cx="475488" cy="475488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837" y="1824045"/>
            <a:ext cx="247254" cy="247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69080" y="16550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Toast / banner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93008" y="2075688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message: “Order saved,” “Can't connect.”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80760" y="1508760"/>
            <a:ext cx="2606040" cy="1234440"/>
          </a:xfrm>
          <a:prstGeom prst="roundedRectangle">
            <a:avLst>
              <a:gd name="adj" fmla="val 5185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63640" y="1709928"/>
            <a:ext cx="475488" cy="475488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757" y="1824045"/>
            <a:ext cx="247254" cy="2472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58000" y="16550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Empty state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81928" y="2075688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 message + a next action when there's no data.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02920" y="2907792"/>
            <a:ext cx="2606040" cy="1234440"/>
          </a:xfrm>
          <a:prstGeom prst="roundedRectangle">
            <a:avLst>
              <a:gd name="adj" fmla="val 5185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3108960"/>
            <a:ext cx="475488" cy="475488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917" y="3223077"/>
            <a:ext cx="247254" cy="24725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30540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 indicator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04088" y="347472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Spinner, skeleton, or a disabled “Saving…” control.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91840" y="2907792"/>
            <a:ext cx="2606040" cy="1234440"/>
          </a:xfrm>
          <a:prstGeom prst="roundedRectangle">
            <a:avLst>
              <a:gd name="adj" fmla="val 5185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74720" y="3108960"/>
            <a:ext cx="475488" cy="475488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8837" y="3223077"/>
            <a:ext cx="247254" cy="24725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69080" y="30540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Disable while pending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493008" y="347472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double-submits (Week 7).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80760" y="2907792"/>
            <a:ext cx="2606040" cy="1234440"/>
          </a:xfrm>
          <a:prstGeom prst="roundedRectangle">
            <a:avLst>
              <a:gd name="adj" fmla="val 5185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63640" y="3108960"/>
            <a:ext cx="475488" cy="475488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7757" y="3223077"/>
            <a:ext cx="247254" cy="24725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58000" y="30540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destructive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281928" y="347472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“Are you sure?” before a delete.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2834640"/>
            <a:ext cx="3474720" cy="3474720"/>
          </a:xfrm>
          <a:prstGeom prst="oval">
            <a:avLst/>
          </a:prstGeom>
          <a:solidFill>
            <a:srgbClr val="1F7A6B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vs. PRODUCT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product behaves the same way everywhere.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approach to loading, one to errors, one to success — reused on every screen. If create shows a spinner but edit doesn't, users feel it even if they can't name 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548640" cy="548640"/>
          </a:xfrm>
          <a:prstGeom prst="oval">
            <a:avLst/>
          </a:prstGeom>
          <a:solidFill>
            <a:srgbClr val="1F7A6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328635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31546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feedback approach once (a shared component/helper) and apply it across all CRUD actions.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WELL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Scaffold feedback — review the edge cases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977640" cy="1600200"/>
          </a:xfrm>
          <a:prstGeom prst="roundedRectangle">
            <a:avLst>
              <a:gd name="adj" fmla="val 4571"/>
            </a:avLst>
          </a:prstGeom>
          <a:solidFill>
            <a:srgbClr val="E1F0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548640" cy="548640"/>
          </a:xfrm>
          <a:prstGeom prst="oval">
            <a:avLst/>
          </a:prstGeom>
          <a:solidFill>
            <a:srgbClr val="1F7A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19147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99032" y="177393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it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8952" y="2395728"/>
            <a:ext cx="3465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“Add loading, success, and inline-error handling to this submit, using our standard response shape.”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554480"/>
            <a:ext cx="3977640" cy="1600200"/>
          </a:xfrm>
          <a:prstGeom prst="roundedRectangle">
            <a:avLst>
              <a:gd name="adj" fmla="val 4571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783080"/>
            <a:ext cx="548640" cy="548640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3714" y="19147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9552" y="177393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it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19472" y="2395728"/>
            <a:ext cx="3465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often wires success and skips the 404/500/network branches — the exact failures that matter. Check them.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3383280"/>
            <a:ext cx="8138160" cy="1005840"/>
          </a:xfrm>
          <a:prstGeom prst="roundedRectangle">
            <a:avLst>
              <a:gd name="adj" fmla="val 5455"/>
            </a:avLst>
          </a:prstGeom>
          <a:solidFill>
            <a:srgbClr val="F6E9DF"/>
          </a:solidFill>
          <a:ln/>
        </p:spPr>
      </p:sp>
      <p:sp>
        <p:nvSpPr>
          <p:cNvPr id="15" name="Text 11"/>
          <p:cNvSpPr/>
          <p:nvPr/>
        </p:nvSpPr>
        <p:spPr>
          <a:xfrm>
            <a:off x="731520" y="33832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last week before Phase 4, where reviewing AI's code becomes the whole point. Log your prompts in /docs/ai-notes and mark AI-generated vs. hand-written.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LARAVEL — ONE CONCRETE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Inline errors &amp; flash messages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2514600"/>
          </a:xfrm>
          <a:prstGeom prst="roundedRectangle">
            <a:avLst>
              <a:gd name="adj" fmla="val 1818"/>
            </a:avLst>
          </a:prstGeom>
          <a:solidFill>
            <a:srgbClr val="EEF2F7"/>
          </a:solidFill>
          <a:ln w="9525">
            <a:solidFill>
              <a:srgbClr val="C4CC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527048"/>
            <a:ext cx="780897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{{-- inline field error --}}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name="qty" value="{{ old('qty') }}"&gt;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@error('qty')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&lt;span class="field-error"&gt;{{ $message }}&lt;/span&gt;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@enderror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{{-- global flash message after a redirect --}}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@if (session('status'))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class="toast"&gt;{{ session('status') }}&lt;/div&gt;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@endif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4096512"/>
            <a:ext cx="8138160" cy="685800"/>
          </a:xfrm>
          <a:prstGeom prst="roundedRectangle">
            <a:avLst>
              <a:gd name="adj" fmla="val 8000"/>
            </a:avLst>
          </a:prstGeom>
          <a:solidFill>
            <a:srgbClr val="F6E9D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09651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@error renders the exact message your Form Request produced; session('status') carries a one-time confirmation. Inline for fields, toast for global — the pattern transfers.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everywhere + Deliverable 3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06040" cy="1783080"/>
          </a:xfrm>
          <a:prstGeom prst="roundedRectangle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548640" cy="548640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19147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99032" y="177393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 states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8952" y="2395728"/>
            <a:ext cx="2093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async action; controls disabled.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554480"/>
            <a:ext cx="2606040" cy="1783080"/>
          </a:xfrm>
          <a:prstGeom prst="roundedRectangle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1783080"/>
            <a:ext cx="548640" cy="548640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114" y="19147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87952" y="177393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 failures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47872" y="2395728"/>
            <a:ext cx="2093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422 inline, 404, 500 / network — all visible.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80760" y="1554480"/>
            <a:ext cx="2606040" cy="1783080"/>
          </a:xfrm>
          <a:prstGeom prst="roundedRectangle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783080"/>
            <a:ext cx="548640" cy="548640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034" y="19147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76872" y="177393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 3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36792" y="2395728"/>
            <a:ext cx="2093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interactive app. 30%.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02920" y="3611880"/>
            <a:ext cx="8138160" cy="960120"/>
          </a:xfrm>
          <a:prstGeom prst="roundedRectangle">
            <a:avLst>
              <a:gd name="adj" fmla="val 5714"/>
            </a:avLst>
          </a:prstGeom>
          <a:solidFill>
            <a:srgbClr val="F6E9DF"/>
          </a:solidFill>
          <a:ln/>
        </p:spPr>
      </p:sp>
      <p:sp>
        <p:nvSpPr>
          <p:cNvPr id="20" name="Text 15"/>
          <p:cNvSpPr/>
          <p:nvPr/>
        </p:nvSpPr>
        <p:spPr>
          <a:xfrm>
            <a:off x="731520" y="361188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breaking the network shows the user nothing, it's not done. Rewrite vague messages to be human; make every screen behave the same. See the Deliverable 3 spec for the Definition of Done.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926080"/>
            <a:ext cx="4023360" cy="4023360"/>
          </a:xfrm>
          <a:prstGeom prst="oval">
            <a:avLst/>
          </a:prstGeom>
          <a:solidFill>
            <a:srgbClr val="2D5A8C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731520" cy="731520"/>
          </a:xfrm>
          <a:prstGeom prst="oval">
            <a:avLst/>
          </a:prstGeom>
          <a:solidFill>
            <a:srgbClr val="1F7A6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678485"/>
            <a:ext cx="380390" cy="3803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2194560"/>
            <a:ext cx="78638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is normal — handle 422, 404, 500, and network errors, not just the happy path.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async action has three states: loading, success, and error — make each one visible.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helpful, specific messages in the app's voice; never leak status codes or stack traces.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across the app is what turns a demo into a product.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Error Handling &amp; User Feedback</dc:title>
  <dc:subject>PptxGenJS Presentation</dc:subject>
  <dc:creator>Course Instructor</dc:creator>
  <cp:lastModifiedBy>Course Instructor</cp:lastModifiedBy>
  <cp:revision>1</cp:revision>
  <dcterms:created xsi:type="dcterms:W3CDTF">2026-08-20T00:12:45Z</dcterms:created>
  <dcterms:modified xsi:type="dcterms:W3CDTF">2026-08-20T00:12:45Z</dcterms:modified>
</cp:coreProperties>
</file>