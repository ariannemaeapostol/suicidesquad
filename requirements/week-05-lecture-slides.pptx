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Final AI-off week. Complete the logic layer (controllers) and prove it works (tests). The individual checkpoint runs in today's lab. Deliverable 2 is due.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the pipeline; mark the gap. Routes receive and defend, but nothing does the work yet. That's the controller. Separation of concerns = each part testable in isolation.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 controllers coordinate. Business rules and persistence live elsewhere. A fat controller is the main smell to push back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 vs fat. The lesson is orchestration, not doing everything. Untestability is the tell of a fat controller.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envelope everywhere, mirroring Week 4's error shape. This is what makes the Phase 3 UI uniform.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testing forgets; automated testing doesn't. Sell the Phase 3 payoff — tests catch regressions when they start changing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Arrange–Act–Assert is the universal shape. Watch for test theater — assertions that check nothing.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Require at least one failure-case test per controller. Coverage sensibly — meaningful over exhaustive.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See the checkpoint instructor guide for logistics with 45 students, the task bank, and the rubric. Frame it as remediation-focused.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things: finish controllers+tests, run the checkpoint, assemble Deliverable 2. Introduce the no-merge-on-red-suite rule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2 due. The checkpoint tells you who's ready. Next week: Phase 3 — AI turns ON, and everything you built by hand lets you judge its output.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280160"/>
            <a:ext cx="4206240" cy="4206240"/>
          </a:xfrm>
          <a:prstGeom prst="oval">
            <a:avLst/>
          </a:prstGeom>
          <a:solidFill>
            <a:srgbClr val="2D5A8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2743200"/>
            <a:ext cx="3108960" cy="3108960"/>
          </a:xfrm>
          <a:prstGeom prst="oval">
            <a:avLst/>
          </a:prstGeom>
          <a:solidFill>
            <a:srgbClr val="C05621">
              <a:alpha val="3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822960" cy="82296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6150" y="15233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230428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 · PHASE 2 — THE LOGIC ENGINE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8046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Controllers &amp; Automated Testing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Engineering — AI-Assisted Applied Bootcamp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66928" y="4526280"/>
            <a:ext cx="2194560" cy="384048"/>
          </a:xfrm>
          <a:prstGeom prst="roundedRectangle">
            <a:avLst>
              <a:gd name="adj" fmla="val 14286"/>
            </a:avLst>
          </a:prstGeom>
          <a:solidFill>
            <a:srgbClr val="C05621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452628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AI OFF · FUNDAMENTALS WALL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OBJECTIVES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today, you can…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603504" cy="60350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3481" y="1699321"/>
            <a:ext cx="313822" cy="3138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536192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749040" y="1536192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where the controller sits and what it does.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48640" y="2395728"/>
            <a:ext cx="603504" cy="603504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81" y="2540569"/>
            <a:ext cx="313822" cy="31382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377440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 controllers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749040" y="2377440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validated data and return a standard response.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548640" y="3236976"/>
            <a:ext cx="603504" cy="60350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481" y="3381817"/>
            <a:ext cx="313822" cy="31382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25880" y="3218688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tests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749040" y="3218688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a test as Arrange–Act–Assert.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4078224"/>
            <a:ext cx="603504" cy="603504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481" y="4223065"/>
            <a:ext cx="313822" cy="31382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25880" y="4059936"/>
            <a:ext cx="2377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Safety net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3749040" y="4059936"/>
            <a:ext cx="4937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tests as what makes later changes safe.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CONTROLLER SITS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Separation of concerns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417320" cy="1234440"/>
          </a:xfrm>
          <a:prstGeom prst="roundedRectangle">
            <a:avLst>
              <a:gd name="adj" fmla="val 5926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09828" y="1975104"/>
            <a:ext cx="512064" cy="51206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723" y="2097999"/>
            <a:ext cx="266273" cy="26627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523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7797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856232" y="182880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2130552" y="1828800"/>
            <a:ext cx="1417320" cy="1234440"/>
          </a:xfrm>
          <a:prstGeom prst="roundedRectangle">
            <a:avLst>
              <a:gd name="adj" fmla="val 5926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583180" y="1975104"/>
            <a:ext cx="512064" cy="51206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075" y="2097999"/>
            <a:ext cx="266273" cy="26627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130552" y="2523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130552" y="27797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4</a:t>
            </a:r>
            <a:endParaRPr lang="en-US" sz="950" dirty="0"/>
          </a:p>
        </p:txBody>
      </p:sp>
      <p:sp>
        <p:nvSpPr>
          <p:cNvPr id="15" name="Text 11"/>
          <p:cNvSpPr/>
          <p:nvPr/>
        </p:nvSpPr>
        <p:spPr>
          <a:xfrm>
            <a:off x="3529584" y="182880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2"/>
          <p:cNvSpPr/>
          <p:nvPr/>
        </p:nvSpPr>
        <p:spPr>
          <a:xfrm>
            <a:off x="3803904" y="1828800"/>
            <a:ext cx="1417320" cy="1234440"/>
          </a:xfrm>
          <a:prstGeom prst="roundedRectangle">
            <a:avLst>
              <a:gd name="adj" fmla="val 5926"/>
            </a:avLst>
          </a:prstGeom>
          <a:solidFill>
            <a:srgbClr val="F6E9DF"/>
          </a:solidFill>
          <a:ln w="19050">
            <a:solidFill>
              <a:srgbClr val="C05621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4256532" y="1975104"/>
            <a:ext cx="512064" cy="512064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427" y="2097999"/>
            <a:ext cx="266273" cy="26627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03904" y="2523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3803904" y="27797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i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5202936" y="182880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2" name="Shape 17"/>
          <p:cNvSpPr/>
          <p:nvPr/>
        </p:nvSpPr>
        <p:spPr>
          <a:xfrm>
            <a:off x="5477256" y="1828800"/>
            <a:ext cx="1417320" cy="1234440"/>
          </a:xfrm>
          <a:prstGeom prst="roundedRectangle">
            <a:avLst>
              <a:gd name="adj" fmla="val 5926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929884" y="1975104"/>
            <a:ext cx="512064" cy="51206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2779" y="2097999"/>
            <a:ext cx="266273" cy="26627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477256" y="2523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876288" y="1828800"/>
            <a:ext cx="25603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7" name="Shape 21"/>
          <p:cNvSpPr/>
          <p:nvPr/>
        </p:nvSpPr>
        <p:spPr>
          <a:xfrm>
            <a:off x="7150608" y="1828800"/>
            <a:ext cx="1417320" cy="1234440"/>
          </a:xfrm>
          <a:prstGeom prst="roundedRectangle">
            <a:avLst>
              <a:gd name="adj" fmla="val 5926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7603236" y="1975104"/>
            <a:ext cx="512064" cy="512064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131" y="2097999"/>
            <a:ext cx="266273" cy="26627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150608" y="2523744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1" name="Shape 24"/>
          <p:cNvSpPr/>
          <p:nvPr/>
        </p:nvSpPr>
        <p:spPr>
          <a:xfrm>
            <a:off x="502920" y="3520440"/>
            <a:ext cx="8138160" cy="960120"/>
          </a:xfrm>
          <a:prstGeom prst="roundedRectangle">
            <a:avLst>
              <a:gd name="adj" fmla="val 5714"/>
            </a:avLst>
          </a:prstGeom>
          <a:solidFill>
            <a:srgbClr val="F6E9DF"/>
          </a:solidFill>
          <a:ln/>
        </p:spPr>
      </p:sp>
      <p:sp>
        <p:nvSpPr>
          <p:cNvPr id="32" name="Text 25"/>
          <p:cNvSpPr/>
          <p:nvPr/>
        </p:nvSpPr>
        <p:spPr>
          <a:xfrm>
            <a:off x="731520" y="352044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part has one job, so each can change and be tested in isolation. The controller assumes its input is already valid — because validation ran first.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THIN CONTROLLER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Coordinate — don't do everything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8138160" cy="1737360"/>
          </a:xfrm>
          <a:prstGeom prst="roundedRectangle">
            <a:avLst>
              <a:gd name="adj" fmla="val 2632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18488"/>
            <a:ext cx="7808976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createOrder(request):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  = request.validatedBody     # validation already passed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 = orders.save(data)         # data layer does the work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response(201, { data: order })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3429000"/>
            <a:ext cx="8138160" cy="1005840"/>
          </a:xfrm>
          <a:prstGeom prst="roundedRectangle">
            <a:avLst>
              <a:gd name="adj" fmla="val 5455"/>
            </a:avLst>
          </a:prstGeom>
          <a:solidFill>
            <a:srgbClr val="F6E9D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42900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controller takes validated input, calls the data layer, and shapes the response — nothing more. Validation + SQL + formatting crammed inside is the #1 maintainability smell, and it's untestable.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CONTROLLERS THIN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job each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977640" cy="2194560"/>
          </a:xfrm>
          <a:prstGeom prst="roundedRectangle">
            <a:avLst>
              <a:gd name="adj" fmla="val 3333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28800"/>
            <a:ext cx="566928" cy="56692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9648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196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thin controller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468880"/>
            <a:ext cx="3465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validated input · calls the data layer · returns a standard response. Easy to read, easy to test.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63440" y="1600200"/>
            <a:ext cx="3977640" cy="2194560"/>
          </a:xfrm>
          <a:prstGeom prst="roundedRectangle">
            <a:avLst>
              <a:gd name="adj" fmla="val 3333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892040" y="1828800"/>
            <a:ext cx="566928" cy="566928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103" y="196486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819656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 controller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919472" y="2468880"/>
            <a:ext cx="34655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Validates, queries the database, formats output, handles errors — all inline. Hard to read, impossible to test in isolation.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02920" y="3977640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controller has validation AND persistence AND formatting inside it, split it up.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EVERY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Success mirrors your error shape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8138160" cy="1371600"/>
          </a:xfrm>
          <a:prstGeom prst="roundedRectangle">
            <a:avLst>
              <a:gd name="adj" fmla="val 3333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64208"/>
            <a:ext cx="7808976" cy="1152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success:  { "status": 201, "data": { ...the order... } }</a:t>
            </a: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endParaRPr lang="en-US" sz="12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   { "status": 422, "error": "qty out of range", "field": "qty" }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02920" y="3154680"/>
            <a:ext cx="8138160" cy="1188720"/>
          </a:xfrm>
          <a:prstGeom prst="roundedRectangle">
            <a:avLst>
              <a:gd name="adj" fmla="val 4615"/>
            </a:avLst>
          </a:prstGeom>
          <a:solidFill>
            <a:srgbClr val="F6E9D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1546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Phase 3 the interface consumes these responses. One consistent envelope for success and failure means the UI handles every route the same way — instead of special-casing each. Consistency now is speed later.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AUTOMATED TESTING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line between engineering and scripting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3886200" cy="2148840"/>
          </a:xfrm>
          <a:prstGeom prst="roundedRectangle">
            <a:avLst>
              <a:gd name="adj" fmla="val 3404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754880" y="1600200"/>
            <a:ext cx="3886200" cy="2148840"/>
          </a:xfrm>
          <a:prstGeom prst="roundedRectangle">
            <a:avLst>
              <a:gd name="adj" fmla="val 3404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856232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4" y="1987906"/>
            <a:ext cx="285293" cy="28529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029200" y="1856232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0874" y="1987906"/>
            <a:ext cx="285293" cy="28529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6304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715000" y="18745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31520" y="256032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re-check by hand each time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skip, easy to forget cases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safety net when you change code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983480" y="2560320"/>
            <a:ext cx="3429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seconds, all cases at once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forgets a case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regressions you cause later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02920" y="3931920"/>
            <a:ext cx="8138160" cy="685800"/>
          </a:xfrm>
          <a:prstGeom prst="roundedRectangle">
            <a:avLst>
              <a:gd name="adj" fmla="val 8000"/>
            </a:avLst>
          </a:prstGeom>
          <a:solidFill>
            <a:srgbClr val="F6E9DF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3931920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payoff is Phase 3: when you change code to build the UI, a green suite says the logic still works. Tests let you move fast without fear.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OF A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Arrange · Act · Assert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8138160" cy="2057400"/>
          </a:xfrm>
          <a:prstGeom prst="roundedRectangle">
            <a:avLst>
              <a:gd name="adj" fmla="val 2222"/>
            </a:avLst>
          </a:prstGeom>
          <a:solidFill>
            <a:srgbClr val="EEF2F7"/>
          </a:solidFill>
          <a:ln w="9525">
            <a:solidFill>
              <a:srgbClr val="C4CC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618488"/>
            <a:ext cx="780897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 "createOrder rejects negative quantity":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Arrange — set up the input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 = fakeRequest(body = { item: "Cake", qty: -1 })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Act — run the thing under test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result  = createOrder(request)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# Assert — check the outcome</a:t>
            </a:r>
            <a:endParaRPr lang="en-US" sz="120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expect(result.status == 422)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3749040"/>
            <a:ext cx="8138160" cy="731520"/>
          </a:xfrm>
          <a:prstGeom prst="roundedRectangle">
            <a:avLst>
              <a:gd name="adj" fmla="val 7500"/>
            </a:avLst>
          </a:prstGeom>
          <a:solidFill>
            <a:srgbClr val="F6E9DF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7490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beats, every time: set up the input, run the code, check the result. If you can't name the assertion, the test isn't testing anything.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TEST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 three kinds of case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2103120"/>
          </a:xfrm>
          <a:prstGeom prst="roundedRectangle">
            <a:avLst>
              <a:gd name="adj" fmla="val 3478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31620" y="1783080"/>
            <a:ext cx="548640" cy="548640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3294" y="1914754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path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40080" y="2679192"/>
            <a:ext cx="2331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input produces the right result and status.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600200"/>
            <a:ext cx="2606040" cy="2103120"/>
          </a:xfrm>
          <a:prstGeom prst="roundedRectangle">
            <a:avLst>
              <a:gd name="adj" fmla="val 3478"/>
            </a:avLst>
          </a:prstGeom>
          <a:solidFill>
            <a:srgbClr val="F6E9D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274820" y="178308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6494" y="191475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377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Validation failures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383280" y="2679192"/>
            <a:ext cx="2331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Week-4 rule rejects bad input correctly.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989320" y="1600200"/>
            <a:ext cx="2606040" cy="2103120"/>
          </a:xfrm>
          <a:prstGeom prst="roundedRectangle">
            <a:avLst>
              <a:gd name="adj" fmla="val 3478"/>
            </a:avLst>
          </a:prstGeom>
          <a:solidFill>
            <a:srgbClr val="EAF0F6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018020" y="1783080"/>
            <a:ext cx="548640" cy="548640"/>
          </a:xfrm>
          <a:prstGeom prst="oval">
            <a:avLst/>
          </a:prstGeom>
          <a:solidFill>
            <a:srgbClr val="1B2A4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9694" y="1914754"/>
            <a:ext cx="285293" cy="28529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989320" y="2377440"/>
            <a:ext cx="2606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Edge cases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126480" y="2679192"/>
            <a:ext cx="23317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Boundaries: qty 0 or 1000, empty lists, missing optionals.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02920" y="38862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chase 100% coverage — test the logic that matters. A few meaningful tests beat many hollow ones.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2743200"/>
            <a:ext cx="3566160" cy="3566160"/>
          </a:xfrm>
          <a:prstGeom prst="oval">
            <a:avLst/>
          </a:prstGeom>
          <a:solidFill>
            <a:srgbClr val="C05621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TODAY — INDIVIDUAL &amp; UNASSISTED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AI-Off Checkpoint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of you, solo, builds or fixes one route end to end — route, validation, a thin controller, and one test — in about 20 minutes, observed. No teammates, no AI.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788920"/>
            <a:ext cx="548640" cy="54864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2920594"/>
            <a:ext cx="285293" cy="2852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274320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the clearest proof you cleared the wall — and how we spot who needs a hand before AI turns on. A check-up, not a trap.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48640" y="39319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D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your individual grade for Deliverable 2.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LAB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6692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the logic layer + Deliverable 2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06040" cy="1783080"/>
          </a:xfrm>
          <a:prstGeom prst="roundedRectangle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783080"/>
            <a:ext cx="566928" cy="56692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7583" y="1919143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739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Controllers + tests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58952" y="24231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controllers, standardized responses, a green suite.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06040" cy="1783080"/>
          </a:xfrm>
          <a:prstGeom prst="roundedRectangle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1783080"/>
            <a:ext cx="566928" cy="566928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6503" y="191914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7739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547872" y="24231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member builds a route solo, observed.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080760" y="1554480"/>
            <a:ext cx="2606040" cy="1783080"/>
          </a:xfrm>
          <a:prstGeom prst="roundedRectangle">
            <a:avLst>
              <a:gd name="adj" fmla="val 41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783080"/>
            <a:ext cx="566928" cy="566928"/>
          </a:xfrm>
          <a:prstGeom prst="oval">
            <a:avLst/>
          </a:prstGeom>
          <a:solidFill>
            <a:srgbClr val="2D5A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5423" y="191914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773936"/>
            <a:ext cx="1508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2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36792" y="2423160"/>
            <a:ext cx="20939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+ validation + controllers + tests, 25%.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" y="3611880"/>
            <a:ext cx="8138160" cy="960120"/>
          </a:xfrm>
          <a:prstGeom prst="roundedRectangle">
            <a:avLst>
              <a:gd name="adj" fmla="val 5714"/>
            </a:avLst>
          </a:prstGeom>
          <a:solidFill>
            <a:srgbClr val="F6E9DF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36118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A3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OFF — for the last time. No code merges with a failing test. See the Deliverable 2 spec for the Definition of Done. Next week, Phase 3 turns AI on.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926080"/>
            <a:ext cx="4023360" cy="4023360"/>
          </a:xfrm>
          <a:prstGeom prst="oval">
            <a:avLst/>
          </a:prstGeom>
          <a:solidFill>
            <a:srgbClr val="2D5A8C">
              <a:alpha val="3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502920"/>
            <a:ext cx="731520" cy="731520"/>
          </a:xfrm>
          <a:prstGeom prst="oval">
            <a:avLst/>
          </a:prstGeom>
          <a:solidFill>
            <a:srgbClr val="C05621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678485"/>
            <a:ext cx="380390" cy="3803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640080" y="2194560"/>
            <a:ext cx="7863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controller does the work on validated data — keep it thin, one job.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success responses to mirror your error shape — one envelope everywhere.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 are the safety net that makes Phase 3 changes safe — Arrange, Act, Assert.</a:t>
            </a:r>
            <a:endParaRPr lang="en-US" sz="17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happy path, every validation rule, and edge cases — then the checkpoint proves you can build it solo.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Backend Controllers &amp; Automated Testing</dc:title>
  <dc:subject>PptxGenJS Presentation</dc:subject>
  <dc:creator>Course Instructor</dc:creator>
  <cp:lastModifiedBy>Course Instructor</cp:lastModifiedBy>
  <cp:revision>1</cp:revision>
  <dcterms:created xsi:type="dcterms:W3CDTF">2026-08-05T12:44:10Z</dcterms:created>
  <dcterms:modified xsi:type="dcterms:W3CDTF">2026-08-05T12:44:10Z</dcterms:modified>
</cp:coreProperties>
</file>